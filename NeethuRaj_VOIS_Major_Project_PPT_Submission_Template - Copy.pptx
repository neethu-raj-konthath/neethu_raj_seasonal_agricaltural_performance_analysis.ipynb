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eethu-raj-konthath/Neethu_Raj_Seasonal_agricaltural_performance_analysis.ipynb/blob/main/Neethu_Raj_Seasonal_agricaltural_performance_analysis.ipynb"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429000"/>
            <a:ext cx="4665305" cy="861497"/>
          </a:xfrm>
        </p:spPr>
        <p:txBody>
          <a:bodyPr vert="horz" lIns="91440" tIns="45720" rIns="91440" bIns="45720" rtlCol="0" anchor="t">
            <a:normAutofit fontScale="70000" lnSpcReduction="20000"/>
          </a:bodyPr>
          <a:lstStyle/>
          <a:p>
            <a:r>
              <a:rPr lang="en-US" b="0" dirty="0">
                <a:solidFill>
                  <a:schemeClr val="tx1"/>
                </a:solidFill>
              </a:rPr>
              <a:t>Neethu Raj K R </a:t>
            </a:r>
            <a:endParaRPr lang="en-IN" b="0" dirty="0">
              <a:solidFill>
                <a:schemeClr val="tx1"/>
              </a:solidFill>
            </a:endParaRPr>
          </a:p>
          <a:p>
            <a:r>
              <a:rPr lang="en-US" b="0" dirty="0">
                <a:solidFill>
                  <a:schemeClr val="tx1"/>
                </a:solidFill>
              </a:rPr>
              <a:t>-Mar Gregorios Memorial College of</a:t>
            </a:r>
          </a:p>
          <a:p>
            <a:r>
              <a:rPr lang="en-US" b="0" dirty="0">
                <a:solidFill>
                  <a:schemeClr val="tx1"/>
                </a:solidFill>
              </a:rPr>
              <a:t> Engineering and Pharmaceutical Science ,</a:t>
            </a:r>
            <a:r>
              <a:rPr lang="en-US" b="0" dirty="0" err="1">
                <a:solidFill>
                  <a:schemeClr val="tx1"/>
                </a:solidFill>
              </a:rPr>
              <a:t>Valanchery</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579083"/>
            <a:ext cx="10397073" cy="1009115"/>
          </a:xfrm>
        </p:spPr>
        <p:txBody>
          <a:bodyPr>
            <a:normAutofit/>
          </a:bodyPr>
          <a:lstStyle/>
          <a:p>
            <a:r>
              <a:rPr lang="en-US" b="1" dirty="0"/>
              <a:t>Major Project: Seasonal Agriculture Performance Analysis</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24141" y="4505415"/>
            <a:ext cx="5676659" cy="369332"/>
          </a:xfrm>
          <a:prstGeom prst="rect">
            <a:avLst/>
          </a:prstGeom>
          <a:noFill/>
        </p:spPr>
        <p:txBody>
          <a:bodyPr wrap="square" rtlCol="0">
            <a:spAutoFit/>
          </a:bodyPr>
          <a:lstStyle/>
          <a:p>
            <a:r>
              <a:rPr lang="en-US" b="1" dirty="0"/>
              <a:t>AICTE STU ID : (STU679ce056f167b1738334294)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92500" lnSpcReduction="10000"/>
          </a:bodyPr>
          <a:lstStyle/>
          <a:p>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ACCA97C3-43BD-6C40-9FD1-A2856E21AFD2}"/>
              </a:ext>
            </a:extLst>
          </p:cNvPr>
          <p:cNvSpPr txBox="1"/>
          <p:nvPr/>
        </p:nvSpPr>
        <p:spPr>
          <a:xfrm>
            <a:off x="660399" y="2229254"/>
            <a:ext cx="7315200" cy="3588162"/>
          </a:xfrm>
          <a:prstGeom prst="rect">
            <a:avLst/>
          </a:prstGeom>
          <a:noFill/>
        </p:spPr>
        <p:txBody>
          <a:bodyPr wrap="square" rtlCol="0">
            <a:spAutoFit/>
          </a:bodyPr>
          <a:lstStyle/>
          <a:p>
            <a:pPr>
              <a:spcAft>
                <a:spcPts val="700"/>
              </a:spcAft>
            </a:pPr>
            <a:r>
              <a:rPr lang="en-US" dirty="0">
                <a:solidFill>
                  <a:srgbClr val="282828"/>
                </a:solidFill>
                <a:latin typeface="Aptos"/>
              </a:rPr>
              <a:t>Analyze 4,000 agricultural records covering 8 states, 10 districts, 8 crops and 3 seasons: Kharif, Rabi and Zaid.</a:t>
            </a:r>
          </a:p>
          <a:p>
            <a:pPr>
              <a:spcAft>
                <a:spcPts val="700"/>
              </a:spcAft>
            </a:pPr>
            <a:r>
              <a:rPr lang="en-US" dirty="0">
                <a:solidFill>
                  <a:srgbClr val="282828"/>
                </a:solidFill>
                <a:latin typeface="Aptos"/>
              </a:rPr>
              <a:t>Clean and prepare the dataset by checking missing values and applying median imputation to selected numerical fields.</a:t>
            </a:r>
          </a:p>
          <a:p>
            <a:pPr>
              <a:spcAft>
                <a:spcPts val="700"/>
              </a:spcAft>
            </a:pPr>
            <a:r>
              <a:rPr lang="en-US" dirty="0">
                <a:solidFill>
                  <a:srgbClr val="282828"/>
                </a:solidFill>
                <a:latin typeface="Aptos"/>
              </a:rPr>
              <a:t>Compare seasonal yield, production, environmental conditions, resource usage and economic outcomes.</a:t>
            </a:r>
          </a:p>
          <a:p>
            <a:pPr>
              <a:spcAft>
                <a:spcPts val="700"/>
              </a:spcAft>
            </a:pPr>
            <a:r>
              <a:rPr lang="en-US" dirty="0">
                <a:solidFill>
                  <a:srgbClr val="282828"/>
                </a:solidFill>
                <a:latin typeface="Aptos"/>
              </a:rPr>
              <a:t>Use grouped summaries, bar charts, box-style comparisons, correlation analysis and crop/region comparisons to identify patterns.</a:t>
            </a:r>
          </a:p>
          <a:p>
            <a:pPr>
              <a:spcAft>
                <a:spcPts val="700"/>
              </a:spcAft>
            </a:pPr>
            <a:r>
              <a:rPr lang="en-US" dirty="0">
                <a:solidFill>
                  <a:srgbClr val="282828"/>
                </a:solidFill>
                <a:latin typeface="Aptos"/>
              </a:rPr>
              <a:t>Translate the observed evidence into conclusions and practical recommendations for seasonal agricultural planning.</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749212" cy="3990023"/>
          </a:xfrm>
        </p:spPr>
        <p:txBody>
          <a:bodyPr>
            <a:normAutofit fontScale="62500" lnSpcReduction="20000"/>
          </a:bodyPr>
          <a:lstStyle/>
          <a:p>
            <a:pPr>
              <a:spcAft>
                <a:spcPts val="700"/>
              </a:spcAft>
            </a:pPr>
            <a:r>
              <a:rPr lang="en-US" sz="3600" dirty="0">
                <a:solidFill>
                  <a:srgbClr val="282828"/>
                </a:solidFill>
                <a:latin typeface="Aptos"/>
              </a:rPr>
              <a:t>Farmers and farm managers – to compare seasonal yield, resource needs and profitability.</a:t>
            </a:r>
          </a:p>
          <a:p>
            <a:pPr>
              <a:spcAft>
                <a:spcPts val="700"/>
              </a:spcAft>
            </a:pPr>
            <a:r>
              <a:rPr lang="en-US" sz="3600" dirty="0">
                <a:solidFill>
                  <a:srgbClr val="282828"/>
                </a:solidFill>
                <a:latin typeface="Aptos"/>
              </a:rPr>
              <a:t>Agricultural planners and extension officers – to support evidence-based seasonal planning.</a:t>
            </a:r>
          </a:p>
          <a:p>
            <a:pPr>
              <a:spcAft>
                <a:spcPts val="700"/>
              </a:spcAft>
            </a:pPr>
            <a:r>
              <a:rPr lang="en-US" sz="3600" dirty="0">
                <a:solidFill>
                  <a:srgbClr val="282828"/>
                </a:solidFill>
                <a:latin typeface="Aptos"/>
              </a:rPr>
              <a:t>Government and policy stakeholders – to understand regional and seasonal agricultural patterns.</a:t>
            </a:r>
          </a:p>
          <a:p>
            <a:pPr>
              <a:spcAft>
                <a:spcPts val="700"/>
              </a:spcAft>
            </a:pPr>
            <a:r>
              <a:rPr lang="en-US" sz="3600" dirty="0">
                <a:solidFill>
                  <a:srgbClr val="282828"/>
                </a:solidFill>
                <a:latin typeface="Aptos"/>
              </a:rPr>
              <a:t>Agribusiness and resource managers – to evaluate production, water use and economic performance.</a:t>
            </a:r>
          </a:p>
          <a:p>
            <a:pPr>
              <a:spcAft>
                <a:spcPts val="700"/>
              </a:spcAft>
            </a:pPr>
            <a:r>
              <a:rPr lang="en-US" sz="3600" dirty="0">
                <a:solidFill>
                  <a:srgbClr val="282828"/>
                </a:solidFill>
                <a:latin typeface="Aptos"/>
              </a:rPr>
              <a:t>Students and data analysts – to demonstrate practical agricultural data analytics.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a:spcAft>
                <a:spcPts val="700"/>
              </a:spcAft>
            </a:pPr>
            <a:r>
              <a:rPr lang="en-IN" sz="1700" dirty="0">
                <a:solidFill>
                  <a:srgbClr val="282828"/>
                </a:solidFill>
                <a:latin typeface="Aptos"/>
              </a:rPr>
              <a:t>Python – core analysis and data processing</a:t>
            </a:r>
          </a:p>
          <a:p>
            <a:pPr>
              <a:spcAft>
                <a:spcPts val="700"/>
              </a:spcAft>
            </a:pPr>
            <a:r>
              <a:rPr lang="en-IN" sz="1700" dirty="0">
                <a:solidFill>
                  <a:srgbClr val="282828"/>
                </a:solidFill>
                <a:latin typeface="Aptos"/>
              </a:rPr>
              <a:t>Pandas – data cleaning, grouping and aggregation</a:t>
            </a:r>
          </a:p>
          <a:p>
            <a:pPr>
              <a:spcAft>
                <a:spcPts val="700"/>
              </a:spcAft>
            </a:pPr>
            <a:r>
              <a:rPr lang="en-IN" sz="1700" dirty="0">
                <a:solidFill>
                  <a:srgbClr val="282828"/>
                </a:solidFill>
                <a:latin typeface="Aptos"/>
              </a:rPr>
              <a:t>NumPy – numerical operations</a:t>
            </a:r>
          </a:p>
          <a:p>
            <a:pPr>
              <a:spcAft>
                <a:spcPts val="700"/>
              </a:spcAft>
            </a:pPr>
            <a:r>
              <a:rPr lang="en-IN" sz="1700" dirty="0">
                <a:solidFill>
                  <a:srgbClr val="282828"/>
                </a:solidFill>
                <a:latin typeface="Aptos"/>
              </a:rPr>
              <a:t>Matplotlib / Seaborn – statistical and analytical visualizations</a:t>
            </a:r>
          </a:p>
          <a:p>
            <a:pPr>
              <a:spcAft>
                <a:spcPts val="700"/>
              </a:spcAft>
            </a:pPr>
            <a:r>
              <a:rPr lang="en-IN" sz="1700" dirty="0">
                <a:solidFill>
                  <a:srgbClr val="282828"/>
                </a:solidFill>
                <a:latin typeface="Aptos"/>
              </a:rPr>
              <a:t> Google </a:t>
            </a:r>
            <a:r>
              <a:rPr lang="en-IN" sz="1700" dirty="0" err="1">
                <a:solidFill>
                  <a:srgbClr val="282828"/>
                </a:solidFill>
                <a:latin typeface="Aptos"/>
              </a:rPr>
              <a:t>Colab</a:t>
            </a:r>
            <a:r>
              <a:rPr lang="en-IN" sz="1700" dirty="0">
                <a:solidFill>
                  <a:srgbClr val="282828"/>
                </a:solidFill>
                <a:latin typeface="Aptos"/>
              </a:rPr>
              <a:t> – interactive analysis and documentation</a:t>
            </a:r>
          </a:p>
          <a:p>
            <a:pPr>
              <a:spcAft>
                <a:spcPts val="700"/>
              </a:spcAft>
            </a:pPr>
            <a:r>
              <a:rPr lang="en-IN" sz="1700" dirty="0">
                <a:solidFill>
                  <a:srgbClr val="282828"/>
                </a:solidFill>
                <a:latin typeface="Aptos"/>
              </a:rPr>
              <a:t>CSV dataset – source data for seasonal agriculture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38A876A-D459-BF69-AD8B-6172A9AAAA4C}"/>
              </a:ext>
            </a:extLst>
          </p:cNvPr>
          <p:cNvPicPr>
            <a:picLocks noChangeAspect="1"/>
          </p:cNvPicPr>
          <p:nvPr/>
        </p:nvPicPr>
        <p:blipFill>
          <a:blip r:embed="rId3"/>
          <a:stretch>
            <a:fillRect/>
          </a:stretch>
        </p:blipFill>
        <p:spPr>
          <a:xfrm>
            <a:off x="675957" y="1351684"/>
            <a:ext cx="7690119" cy="5440691"/>
          </a:xfrm>
          <a:prstGeom prst="rect">
            <a:avLst/>
          </a:prstGeom>
        </p:spPr>
      </p:pic>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3414117" y="597248"/>
            <a:ext cx="7540022" cy="477520"/>
          </a:xfrm>
        </p:spPr>
        <p:txBody>
          <a:bodyPr vert="horz" lIns="91440" tIns="45720" rIns="91440" bIns="45720" rtlCol="0" anchor="t">
            <a:normAutofit/>
          </a:bodyPr>
          <a:lstStyle/>
          <a:p>
            <a:pPr marL="0" indent="0">
              <a:buNone/>
            </a:pPr>
            <a:r>
              <a:rPr lang="en-IN" dirty="0"/>
              <a:t>-Which crops have the best water efficiency?</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414117" y="547327"/>
            <a:ext cx="6196414" cy="477520"/>
          </a:xfrm>
        </p:spPr>
        <p:txBody>
          <a:bodyPr>
            <a:normAutofit/>
          </a:bodyPr>
          <a:lstStyle/>
          <a:p>
            <a:pPr marL="0" indent="0">
              <a:buNone/>
            </a:pPr>
            <a:r>
              <a:rPr lang="en-IN" dirty="0"/>
              <a:t>- How does disease/pest risk vary across seasons?</a:t>
            </a:r>
          </a:p>
        </p:txBody>
      </p:sp>
      <p:pic>
        <p:nvPicPr>
          <p:cNvPr id="2" name="Picture 1">
            <a:extLst>
              <a:ext uri="{FF2B5EF4-FFF2-40B4-BE49-F238E27FC236}">
                <a16:creationId xmlns:a16="http://schemas.microsoft.com/office/drawing/2014/main" id="{DC13B2C5-FFAF-1CB5-1E79-A0EB9610D4EA}"/>
              </a:ext>
            </a:extLst>
          </p:cNvPr>
          <p:cNvPicPr>
            <a:picLocks noChangeAspect="1"/>
          </p:cNvPicPr>
          <p:nvPr/>
        </p:nvPicPr>
        <p:blipFill>
          <a:blip r:embed="rId3"/>
          <a:stretch>
            <a:fillRect/>
          </a:stretch>
        </p:blipFill>
        <p:spPr>
          <a:xfrm>
            <a:off x="675957" y="1660850"/>
            <a:ext cx="7264394" cy="478015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3578356" y="522199"/>
            <a:ext cx="4275138" cy="477520"/>
          </a:xfrm>
        </p:spPr>
        <p:txBody>
          <a:bodyPr/>
          <a:lstStyle/>
          <a:p>
            <a:pPr marL="0" indent="0">
              <a:buNone/>
            </a:pPr>
            <a:r>
              <a:rPr lang="en-US" dirty="0"/>
              <a:t>- </a:t>
            </a:r>
            <a:r>
              <a:rPr lang="en-IN" dirty="0"/>
              <a:t>Does soil pH affect crop yield?</a:t>
            </a:r>
          </a:p>
        </p:txBody>
      </p:sp>
      <p:pic>
        <p:nvPicPr>
          <p:cNvPr id="2" name="Picture 1">
            <a:extLst>
              <a:ext uri="{FF2B5EF4-FFF2-40B4-BE49-F238E27FC236}">
                <a16:creationId xmlns:a16="http://schemas.microsoft.com/office/drawing/2014/main" id="{19239FED-3BF5-04C5-6775-9C80D4C1F08C}"/>
              </a:ext>
            </a:extLst>
          </p:cNvPr>
          <p:cNvPicPr>
            <a:picLocks noChangeAspect="1"/>
          </p:cNvPicPr>
          <p:nvPr/>
        </p:nvPicPr>
        <p:blipFill>
          <a:blip r:embed="rId3"/>
          <a:stretch>
            <a:fillRect/>
          </a:stretch>
        </p:blipFill>
        <p:spPr>
          <a:xfrm>
            <a:off x="675957" y="1623528"/>
            <a:ext cx="7506990" cy="454681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3657600" y="522199"/>
            <a:ext cx="5486400" cy="477520"/>
          </a:xfrm>
        </p:spPr>
        <p:txBody>
          <a:bodyPr>
            <a:normAutofit fontScale="85000" lnSpcReduction="10000"/>
          </a:bodyPr>
          <a:lstStyle/>
          <a:p>
            <a:pPr marL="0" indent="0">
              <a:buNone/>
            </a:pPr>
            <a:r>
              <a:rPr lang="en-US" dirty="0"/>
              <a:t>-</a:t>
            </a:r>
            <a:r>
              <a:rPr lang="en-IN" dirty="0"/>
              <a:t> How does water efficiency differ among seasons?</a:t>
            </a:r>
          </a:p>
        </p:txBody>
      </p:sp>
      <p:pic>
        <p:nvPicPr>
          <p:cNvPr id="2" name="Picture 1">
            <a:extLst>
              <a:ext uri="{FF2B5EF4-FFF2-40B4-BE49-F238E27FC236}">
                <a16:creationId xmlns:a16="http://schemas.microsoft.com/office/drawing/2014/main" id="{9816C566-4A37-FE63-B028-2554E91B9970}"/>
              </a:ext>
            </a:extLst>
          </p:cNvPr>
          <p:cNvPicPr>
            <a:picLocks noChangeAspect="1"/>
          </p:cNvPicPr>
          <p:nvPr/>
        </p:nvPicPr>
        <p:blipFill>
          <a:blip r:embed="rId3"/>
          <a:stretch>
            <a:fillRect/>
          </a:stretch>
        </p:blipFill>
        <p:spPr>
          <a:xfrm>
            <a:off x="754551" y="1771750"/>
            <a:ext cx="6934704" cy="456405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3559694" y="547327"/>
            <a:ext cx="6349416" cy="477520"/>
          </a:xfrm>
        </p:spPr>
        <p:txBody>
          <a:bodyPr>
            <a:normAutofit/>
          </a:bodyPr>
          <a:lstStyle/>
          <a:p>
            <a:pPr marL="0" indent="0">
              <a:buNone/>
            </a:pPr>
            <a:r>
              <a:rPr lang="en-IN" dirty="0"/>
              <a:t>- Yield Across Different Seasons</a:t>
            </a:r>
          </a:p>
        </p:txBody>
      </p:sp>
      <p:pic>
        <p:nvPicPr>
          <p:cNvPr id="9" name="Picture 8">
            <a:extLst>
              <a:ext uri="{FF2B5EF4-FFF2-40B4-BE49-F238E27FC236}">
                <a16:creationId xmlns:a16="http://schemas.microsoft.com/office/drawing/2014/main" id="{B278CC1D-7DC6-A9C1-0FA5-A2853B8349C8}"/>
              </a:ext>
            </a:extLst>
          </p:cNvPr>
          <p:cNvPicPr>
            <a:picLocks noChangeAspect="1"/>
          </p:cNvPicPr>
          <p:nvPr/>
        </p:nvPicPr>
        <p:blipFill>
          <a:blip r:embed="rId3"/>
          <a:stretch>
            <a:fillRect/>
          </a:stretch>
        </p:blipFill>
        <p:spPr>
          <a:xfrm>
            <a:off x="675957" y="1500466"/>
            <a:ext cx="7155419" cy="516449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579CC0D-F3EB-CA15-070A-6AD257936D8F}"/>
              </a:ext>
            </a:extLst>
          </p:cNvPr>
          <p:cNvSpPr txBox="1"/>
          <p:nvPr/>
        </p:nvSpPr>
        <p:spPr>
          <a:xfrm>
            <a:off x="675957" y="1539551"/>
            <a:ext cx="7851502" cy="3400931"/>
          </a:xfrm>
          <a:prstGeom prst="rect">
            <a:avLst/>
          </a:prstGeom>
          <a:noFill/>
        </p:spPr>
        <p:txBody>
          <a:bodyPr wrap="square" rtlCol="0">
            <a:spAutoFit/>
          </a:bodyPr>
          <a:lstStyle/>
          <a:p>
            <a:pPr>
              <a:spcAft>
                <a:spcPts val="700"/>
              </a:spcAft>
            </a:pPr>
            <a:r>
              <a:rPr lang="en-US" dirty="0">
                <a:solidFill>
                  <a:srgbClr val="282828"/>
                </a:solidFill>
                <a:latin typeface="Aptos"/>
              </a:rPr>
              <a:t>Build predictive models for crop yield and seasonal profitability.</a:t>
            </a:r>
          </a:p>
          <a:p>
            <a:pPr>
              <a:spcAft>
                <a:spcPts val="700"/>
              </a:spcAft>
            </a:pPr>
            <a:r>
              <a:rPr lang="en-US" dirty="0">
                <a:solidFill>
                  <a:srgbClr val="282828"/>
                </a:solidFill>
                <a:latin typeface="Aptos"/>
              </a:rPr>
              <a:t>Add multi-year time-series data to study long-term seasonal trends and climate variability.</a:t>
            </a:r>
          </a:p>
          <a:p>
            <a:pPr>
              <a:spcAft>
                <a:spcPts val="700"/>
              </a:spcAft>
            </a:pPr>
            <a:r>
              <a:rPr lang="en-US" dirty="0">
                <a:solidFill>
                  <a:srgbClr val="282828"/>
                </a:solidFill>
                <a:latin typeface="Aptos"/>
              </a:rPr>
              <a:t>Use district-level weather and soil data to improve localized recommendations.</a:t>
            </a:r>
          </a:p>
          <a:p>
            <a:pPr>
              <a:spcAft>
                <a:spcPts val="700"/>
              </a:spcAft>
            </a:pPr>
            <a:r>
              <a:rPr lang="en-US" dirty="0">
                <a:solidFill>
                  <a:srgbClr val="282828"/>
                </a:solidFill>
                <a:latin typeface="Aptos"/>
              </a:rPr>
              <a:t>Develop an interactive dashboard for farmers, planners and policymakers.</a:t>
            </a:r>
          </a:p>
          <a:p>
            <a:pPr>
              <a:spcAft>
                <a:spcPts val="700"/>
              </a:spcAft>
            </a:pPr>
            <a:r>
              <a:rPr lang="en-US" dirty="0">
                <a:solidFill>
                  <a:srgbClr val="282828"/>
                </a:solidFill>
                <a:latin typeface="Aptos"/>
              </a:rPr>
              <a:t>Investigate crop-specific resource optimization and irrigation efficiency.</a:t>
            </a:r>
          </a:p>
          <a:p>
            <a:pPr>
              <a:spcAft>
                <a:spcPts val="700"/>
              </a:spcAft>
            </a:pPr>
            <a:r>
              <a:rPr lang="en-US" dirty="0">
                <a:solidFill>
                  <a:srgbClr val="282828"/>
                </a:solidFill>
                <a:latin typeface="Aptos"/>
              </a:rPr>
              <a:t>Extend anomaly detection to identify high-risk seasons, districts or crop combinations.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00F0E6F5-6592-D41F-0933-F4DE88C6BE87}"/>
              </a:ext>
            </a:extLst>
          </p:cNvPr>
          <p:cNvSpPr txBox="1"/>
          <p:nvPr/>
        </p:nvSpPr>
        <p:spPr>
          <a:xfrm>
            <a:off x="675957" y="2015234"/>
            <a:ext cx="8943904" cy="923330"/>
          </a:xfrm>
          <a:prstGeom prst="rect">
            <a:avLst/>
          </a:prstGeom>
          <a:noFill/>
        </p:spPr>
        <p:txBody>
          <a:bodyPr wrap="square" rtlCol="0">
            <a:spAutoFit/>
          </a:bodyPr>
          <a:lstStyle/>
          <a:p>
            <a:r>
              <a:rPr lang="en-IN" dirty="0">
                <a:hlinkClick r:id="rId3"/>
              </a:rPr>
              <a:t>https://github.com/Neethu-raj-konthath/Neethu_Raj_Seasonal_agricaltural_performance_analysis.ipynb/blob/main/Neethu_Raj_Seasonal_agricaltural_performance_analysis.ipynb</a:t>
            </a:r>
            <a:r>
              <a:rPr lang="en-IN" dirty="0"/>
              <a:t> </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9473D201-C0FA-CFBD-CBE0-74F010DD2AAC}"/>
              </a:ext>
            </a:extLst>
          </p:cNvPr>
          <p:cNvGraphicFramePr>
            <a:graphicFrameLocks noChangeAspect="1"/>
          </p:cNvGraphicFramePr>
          <p:nvPr>
            <p:extLst>
              <p:ext uri="{D42A27DB-BD31-4B8C-83A1-F6EECF244321}">
                <p14:modId xmlns:p14="http://schemas.microsoft.com/office/powerpoint/2010/main" val="4218847616"/>
              </p:ext>
            </p:extLst>
          </p:nvPr>
        </p:nvGraphicFramePr>
        <p:xfrm>
          <a:off x="998375" y="1961573"/>
          <a:ext cx="6344817" cy="4232573"/>
        </p:xfrm>
        <a:graphic>
          <a:graphicData uri="http://schemas.openxmlformats.org/presentationml/2006/ole">
            <mc:AlternateContent xmlns:mc="http://schemas.openxmlformats.org/markup-compatibility/2006">
              <mc:Choice xmlns:v="urn:schemas-microsoft-com:vml" Requires="v">
                <p:oleObj name="Acrobat Document" r:id="rId3" imgW="6415686" imgH="4533492" progId="Acrobat.Document.DC">
                  <p:embed/>
                </p:oleObj>
              </mc:Choice>
              <mc:Fallback>
                <p:oleObj name="Acrobat Document" r:id="rId3" imgW="6415686" imgH="4533492" progId="Acrobat.Document.DC">
                  <p:embed/>
                  <p:pic>
                    <p:nvPicPr>
                      <p:cNvPr id="0" name=""/>
                      <p:cNvPicPr/>
                      <p:nvPr/>
                    </p:nvPicPr>
                    <p:blipFill>
                      <a:blip r:embed="rId4"/>
                      <a:stretch>
                        <a:fillRect/>
                      </a:stretch>
                    </p:blipFill>
                    <p:spPr>
                      <a:xfrm>
                        <a:off x="998375" y="1961573"/>
                        <a:ext cx="6344817" cy="4232573"/>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604</TotalTime>
  <Words>510</Words>
  <Application>Microsoft Office PowerPoint</Application>
  <PresentationFormat>Widescreen</PresentationFormat>
  <Paragraphs>50</Paragraphs>
  <Slides>14</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2" baseType="lpstr">
      <vt:lpstr>Aptos</vt:lpstr>
      <vt:lpstr>Arial</vt:lpstr>
      <vt:lpstr>Calibri</vt:lpstr>
      <vt:lpstr>Trebuchet MS</vt:lpstr>
      <vt:lpstr>Wingdings</vt:lpstr>
      <vt:lpstr>Wingdings 3</vt:lpstr>
      <vt:lpstr>Facet</vt:lpstr>
      <vt:lpstr>Acrobat Document</vt:lpstr>
      <vt:lpstr>Major Project: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NEETHU RAJ</cp:lastModifiedBy>
  <cp:revision>99</cp:revision>
  <dcterms:created xsi:type="dcterms:W3CDTF">2021-07-11T13:13:15Z</dcterms:created>
  <dcterms:modified xsi:type="dcterms:W3CDTF">2026-09-10T08:19:15Z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